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138160" y="-457200"/>
            <a:ext cx="2926080" cy="29260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713232"/>
            <a:ext cx="1554480" cy="347472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786384"/>
            <a:ext cx="123444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WEEK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44752"/>
            <a:ext cx="886968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Aptos"/>
              </a:rPr>
              <a:t>AI Teammate Foundations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3591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0">
                <a:solidFill>
                  <a:srgbClr val="E2E8F0"/>
                </a:solidFill>
                <a:latin typeface="Aptos"/>
              </a:rPr>
              <a:t>ChatGPT, Prompting, and First 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069080"/>
            <a:ext cx="8961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0">
                <a:solidFill>
                  <a:srgbClr val="E2E8F0"/>
                </a:solidFill>
                <a:latin typeface="Aptos"/>
              </a:rPr>
              <a:t>Students learn that AI is a creative teammate, not just a search box. They practice prompt structure, test answers, and build a personal assistant they can improve.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1/9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43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768" y="109728"/>
            <a:ext cx="6492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AI Teammate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73736"/>
            <a:ext cx="374903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ChatGPT, Prompting, and First 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698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100" b="1">
                <a:solidFill>
                  <a:srgbClr val="172033"/>
                </a:solidFill>
                <a:latin typeface="Aptos"/>
              </a:rPr>
              <a:t>Today’s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481328"/>
            <a:ext cx="10424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6657B"/>
                </a:solidFill>
                <a:latin typeface="Aptos"/>
              </a:rPr>
              <a:t>Each lesson is planned for about 90 minutes.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755648"/>
            <a:ext cx="3337560" cy="1298448"/>
          </a:xfrm>
          <a:prstGeom prst="roundRect">
            <a:avLst/>
          </a:prstGeom>
          <a:solidFill>
            <a:srgbClr val="FFFF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1755648"/>
            <a:ext cx="73152" cy="1298448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1883664"/>
            <a:ext cx="30175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2563EB"/>
                </a:solidFill>
                <a:latin typeface="Aptos"/>
              </a:rPr>
              <a:t>Main 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194560"/>
            <a:ext cx="3008376" cy="7955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172033"/>
                </a:solidFill>
                <a:latin typeface="Aptos"/>
              </a:rPr>
              <a:t>Move students from simply asking questions to directing an AI teammate with clear roles, context, and output formats.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1755648"/>
            <a:ext cx="3246120" cy="1298448"/>
          </a:xfrm>
          <a:prstGeom prst="roundRect">
            <a:avLst/>
          </a:prstGeom>
          <a:solidFill>
            <a:srgbClr val="ECFDF5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51960" y="1755648"/>
            <a:ext cx="73152" cy="1298448"/>
          </a:xfrm>
          <a:prstGeom prst="rect">
            <a:avLst/>
          </a:prstGeom>
          <a:solidFill>
            <a:srgbClr val="0F9F6E"/>
          </a:solidFill>
          <a:ln>
            <a:solidFill>
              <a:srgbClr val="0F9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883664"/>
            <a:ext cx="2926079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0F9F6E"/>
                </a:solidFill>
                <a:latin typeface="Aptos"/>
              </a:rPr>
              <a:t>Student deliverable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6552" y="2194560"/>
            <a:ext cx="2916936" cy="7955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172033"/>
                </a:solidFill>
                <a:latin typeface="Aptos"/>
              </a:rPr>
              <a:t>Personal AI assistant with 5 useful example conversations.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26679" y="1755648"/>
            <a:ext cx="3611880" cy="1298448"/>
          </a:xfrm>
          <a:prstGeom prst="roundRect">
            <a:avLst/>
          </a:prstGeom>
          <a:solidFill>
            <a:srgbClr val="F5F3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26679" y="1755648"/>
            <a:ext cx="73152" cy="129844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91271" y="1883664"/>
            <a:ext cx="32918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7C3AED"/>
                </a:solidFill>
                <a:latin typeface="Aptos"/>
              </a:rPr>
              <a:t>Tools today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7848" y="2194560"/>
            <a:ext cx="3227832" cy="795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ChatGPT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Prompt Engineering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Role + Task + Context + Format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Critique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3520440"/>
            <a:ext cx="10287000" cy="1645920"/>
          </a:xfrm>
          <a:prstGeom prst="roundRect">
            <a:avLst/>
          </a:prstGeom>
          <a:solidFill>
            <a:srgbClr val="FFF7ED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" y="3520440"/>
            <a:ext cx="73152" cy="1645920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3648456"/>
            <a:ext cx="99669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F97316"/>
                </a:solidFill>
                <a:latin typeface="Aptos"/>
              </a:rPr>
              <a:t>90-minute flow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" y="3959352"/>
            <a:ext cx="990295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Hook + discussion: 10 min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Prompt formula demo: 20 min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Assistant build: 40 min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Pair test + revise: 15 min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Exit ticket: 5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43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768" y="109728"/>
            <a:ext cx="6492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AI Teammate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73736"/>
            <a:ext cx="374903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ChatGPT, Prompting, and First 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698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100" b="1">
                <a:solidFill>
                  <a:srgbClr val="172033"/>
                </a:solidFill>
                <a:latin typeface="Aptos"/>
              </a:rPr>
              <a:t>Hook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481328"/>
            <a:ext cx="10424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6657B"/>
                </a:solidFill>
                <a:latin typeface="Aptos"/>
              </a:rPr>
              <a:t>Start with a question that makes students curious immediately.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3/9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874519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800" b="1">
                <a:solidFill>
                  <a:srgbClr val="2563EB"/>
                </a:solidFill>
                <a:latin typeface="Aptos"/>
              </a:rPr>
              <a:t>Can AI do my homework?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657600"/>
            <a:ext cx="96926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72033"/>
                </a:solidFill>
                <a:latin typeface="Aptos"/>
              </a:defRPr>
            </a:pPr>
            <a:r>
              <a:t>Ask for quick predictions.</a:t>
            </a:r>
          </a:p>
          <a:p>
            <a:pPr>
              <a:spcAft>
                <a:spcPts val="900"/>
              </a:spcAft>
              <a:defRPr sz="2300">
                <a:solidFill>
                  <a:srgbClr val="172033"/>
                </a:solidFill>
                <a:latin typeface="Aptos"/>
              </a:defRPr>
            </a:pPr>
            <a:r>
              <a:t>Let students argue both sides.</a:t>
            </a:r>
          </a:p>
          <a:p>
            <a:pPr>
              <a:spcAft>
                <a:spcPts val="900"/>
              </a:spcAft>
              <a:defRPr sz="2300">
                <a:solidFill>
                  <a:srgbClr val="172033"/>
                </a:solidFill>
                <a:latin typeface="Aptos"/>
              </a:defRPr>
            </a:pPr>
            <a:r>
              <a:t>Then show the demo before explaining too much.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43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768" y="109728"/>
            <a:ext cx="6492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AI Teammate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73736"/>
            <a:ext cx="374903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ChatGPT, Prompting, and First 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698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100" b="1">
                <a:solidFill>
                  <a:srgbClr val="172033"/>
                </a:solidFill>
                <a:latin typeface="Aptos"/>
              </a:rPr>
              <a:t>Big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481328"/>
            <a:ext cx="10424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6657B"/>
                </a:solidFill>
                <a:latin typeface="Aptos"/>
              </a:rPr>
              <a:t>One concept students should remember after class.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4/9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828800"/>
            <a:ext cx="103327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172033"/>
                </a:solidFill>
                <a:latin typeface="Aptos"/>
              </a:rPr>
              <a:t>The student is the director. AI is the teammate.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3063240"/>
            <a:ext cx="1014984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3063240"/>
            <a:ext cx="73152" cy="164592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3191256"/>
            <a:ext cx="98298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2563EB"/>
                </a:solidFill>
                <a:latin typeface="Aptos"/>
              </a:rPr>
              <a:t>Key concepts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8" y="3502152"/>
            <a:ext cx="976579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AI can take a role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Specific context improves answers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A good format makes answers easier to use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Humans still check the result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43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768" y="109728"/>
            <a:ext cx="6492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AI Teammate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73736"/>
            <a:ext cx="374903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ChatGPT, Prompting, and First 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698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100" b="1">
                <a:solidFill>
                  <a:srgbClr val="172033"/>
                </a:solidFill>
                <a:latin typeface="Aptos"/>
              </a:rPr>
              <a:t>Bad prompt vs. good prompt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481328"/>
            <a:ext cx="10424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6657B"/>
                </a:solidFill>
                <a:latin typeface="Aptos"/>
              </a:rPr>
              <a:t>Live demo: students see the result before the explanation.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828800"/>
            <a:ext cx="480060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1828800"/>
            <a:ext cx="73152" cy="310896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1956816"/>
            <a:ext cx="44805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2563EB"/>
                </a:solidFill>
                <a:latin typeface="Aptos"/>
              </a:rPr>
              <a:t>Demo steps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67712"/>
            <a:ext cx="4416552" cy="2606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Bad: Help me study.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Better: Act as a friendly biology tutor. Quiz me on cells one question at a time. If I miss one, explain it simply.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1828800"/>
            <a:ext cx="5257800" cy="3108960"/>
          </a:xfrm>
          <a:prstGeom prst="roundRect">
            <a:avLst/>
          </a:prstGeom>
          <a:solidFill>
            <a:srgbClr val="FFF7ED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89320" y="1828800"/>
            <a:ext cx="73152" cy="3108960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1956816"/>
            <a:ext cx="49377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F97316"/>
                </a:solidFill>
                <a:latin typeface="Aptos"/>
              </a:rPr>
              <a:t>Tutor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0488" y="2267712"/>
            <a:ext cx="4873752" cy="2606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Narrate what you are asking AI to do.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Pause after the output.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Ask: What should we improve next?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43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768" y="109728"/>
            <a:ext cx="6492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AI Teammate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73736"/>
            <a:ext cx="374903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ChatGPT, Prompting, and First 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698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100" b="1">
                <a:solidFill>
                  <a:srgbClr val="172033"/>
                </a:solidFill>
                <a:latin typeface="Aptos"/>
              </a:rPr>
              <a:t>Live prompt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481328"/>
            <a:ext cx="10424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6657B"/>
                </a:solidFill>
                <a:latin typeface="Aptos"/>
              </a:rPr>
              <a:t>Copy, modify, and use during the demo.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874519"/>
            <a:ext cx="10561320" cy="278892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121408"/>
            <a:ext cx="10058400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100" b="0">
                <a:solidFill>
                  <a:srgbClr val="FFFFFF"/>
                </a:solidFill>
                <a:latin typeface="Aptos"/>
              </a:rPr>
              <a:t>Act as a friendly study coach for a high school student.</a:t>
            </a:r>
            <a:br/>
            <a:r>
              <a:t>Help me study [topic]. Ask one question at a time. If I get it wrong, explain simply and let me try again.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507492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2563EB"/>
                </a:solidFill>
                <a:latin typeface="Aptos"/>
              </a:rPr>
              <a:t>After the response, ask students: What worked? What is missing? What should we ask next?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43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768" y="109728"/>
            <a:ext cx="6492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AI Teammate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73736"/>
            <a:ext cx="374903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ChatGPT, Prompting, and First 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698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100" b="1">
                <a:solidFill>
                  <a:srgbClr val="172033"/>
                </a:solidFill>
                <a:latin typeface="Aptos"/>
              </a:rPr>
              <a:t>Hands-on build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481328"/>
            <a:ext cx="10424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6657B"/>
                </a:solidFill>
                <a:latin typeface="Aptos"/>
              </a:rPr>
              <a:t>Students create their own version and improve through iteration.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828800"/>
            <a:ext cx="4983480" cy="3246120"/>
          </a:xfrm>
          <a:prstGeom prst="roundRect">
            <a:avLst/>
          </a:prstGeom>
          <a:solidFill>
            <a:srgbClr val="ECFDF5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1828800"/>
            <a:ext cx="73152" cy="3246120"/>
          </a:xfrm>
          <a:prstGeom prst="rect">
            <a:avLst/>
          </a:prstGeom>
          <a:solidFill>
            <a:srgbClr val="0F9F6E"/>
          </a:solidFill>
          <a:ln>
            <a:solidFill>
              <a:srgbClr val="0F9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1956816"/>
            <a:ext cx="46634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0F9F6E"/>
                </a:solidFill>
                <a:latin typeface="Aptos"/>
              </a:rPr>
              <a:t>Build steps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67712"/>
            <a:ext cx="459943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Choose an assistant type: Study Buddy, Minecraft Coach, Music Advisor, Sports Trainer, Writing Helper, or Game Idea Coach.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Create the assistant's role, rules, and answer format.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Test it with 3 real questions.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Improve the prompt after seeing the answers.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828800"/>
            <a:ext cx="498348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828800"/>
            <a:ext cx="73152" cy="324612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6792" y="1956816"/>
            <a:ext cx="46634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2563EB"/>
                </a:solidFill>
                <a:latin typeface="Aptos"/>
              </a:rPr>
              <a:t>Keep it manageable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3368" y="2267712"/>
            <a:ext cx="459943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Start with the smallest working version.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Let students customize one thing.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Have them explain the change in plain English.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43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768" y="109728"/>
            <a:ext cx="6492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AI Teammate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73736"/>
            <a:ext cx="374903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ChatGPT, Prompting, and First 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698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100" b="1">
                <a:solidFill>
                  <a:srgbClr val="172033"/>
                </a:solidFill>
                <a:latin typeface="Aptos"/>
              </a:rPr>
              <a:t>Interactive checkpoints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481328"/>
            <a:ext cx="10424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6657B"/>
                </a:solidFill>
                <a:latin typeface="Aptos"/>
              </a:rPr>
              <a:t>Use these to keep kids active instead of just watching.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1828800"/>
            <a:ext cx="10241280" cy="2103120"/>
          </a:xfrm>
          <a:prstGeom prst="roundRect">
            <a:avLst/>
          </a:prstGeom>
          <a:solidFill>
            <a:srgbClr val="F5F3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1828800"/>
            <a:ext cx="73152" cy="210312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1956816"/>
            <a:ext cx="99212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7C3AED"/>
                </a:solidFill>
                <a:latin typeface="Aptos"/>
              </a:rPr>
              <a:t>Student interaction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267712"/>
            <a:ext cx="9857232" cy="1600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Thumb vote: helpful or lazy?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Pair test: ask your partner's assistant one question.</a:t>
            </a:r>
          </a:p>
          <a:p>
            <a:pPr>
              <a:spcAft>
                <a:spcPts val="900"/>
              </a:spcAft>
              <a:defRPr sz="1400">
                <a:solidFill>
                  <a:srgbClr val="172033"/>
                </a:solidFill>
                <a:latin typeface="Aptos"/>
              </a:defRPr>
            </a:pPr>
            <a:r>
              <a:t>Repair challenge: turn a vague prompt into a clear prompt.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343400"/>
            <a:ext cx="10241280" cy="868680"/>
          </a:xfrm>
          <a:prstGeom prst="roundRect">
            <a:avLst/>
          </a:prstGeom>
          <a:solidFill>
            <a:srgbClr val="ECFDF5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4343400"/>
            <a:ext cx="73152" cy="868680"/>
          </a:xfrm>
          <a:prstGeom prst="rect">
            <a:avLst/>
          </a:prstGeom>
          <a:solidFill>
            <a:srgbClr val="0F9F6E"/>
          </a:solidFill>
          <a:ln>
            <a:solidFill>
              <a:srgbClr val="0F9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471416"/>
            <a:ext cx="99212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0F9F6E"/>
                </a:solidFill>
                <a:latin typeface="Aptos"/>
              </a:rPr>
              <a:t>Exit ticket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4782312"/>
            <a:ext cx="9912096" cy="3657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172033"/>
                </a:solidFill>
                <a:latin typeface="Aptos"/>
              </a:rPr>
              <a:t>What did you make? What prompt helped? What would you change next?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43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ptos"/>
              </a:rPr>
              <a:t>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72768" y="109728"/>
            <a:ext cx="6492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ptos"/>
              </a:rPr>
              <a:t>AI Teammate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09560" y="173736"/>
            <a:ext cx="3749039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Aptos"/>
              </a:rPr>
              <a:t>ChatGPT, Prompting, and First 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32688"/>
            <a:ext cx="10698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100" b="1">
                <a:solidFill>
                  <a:srgbClr val="172033"/>
                </a:solidFill>
                <a:latin typeface="Aptos"/>
              </a:rPr>
              <a:t>Homework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481328"/>
            <a:ext cx="10424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56657B"/>
                </a:solidFill>
                <a:latin typeface="Aptos"/>
              </a:rPr>
              <a:t>Editable: change this based on what you want students to 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519672"/>
            <a:ext cx="53035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50" b="0">
                <a:solidFill>
                  <a:srgbClr val="56657B"/>
                </a:solidFill>
                <a:latin typeface="Aptos"/>
              </a:rPr>
              <a:t>AI Builders Academy | Week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9672"/>
            <a:ext cx="8229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50" b="0">
                <a:solidFill>
                  <a:srgbClr val="56657B"/>
                </a:solidFill>
                <a:latin typeface="Apto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828800"/>
            <a:ext cx="10469880" cy="1828800"/>
          </a:xfrm>
          <a:prstGeom prst="roundRect">
            <a:avLst/>
          </a:prstGeom>
          <a:solidFill>
            <a:srgbClr val="FFF7ED"/>
          </a:solidFill>
          <a:ln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148840"/>
            <a:ext cx="9875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500" b="1">
                <a:solidFill>
                  <a:srgbClr val="172033"/>
                </a:solidFill>
                <a:latin typeface="Aptos"/>
              </a:rPr>
              <a:t>Create an AI assistant with 5 example conversations. Add one rule that makes the assistant more helpful or safer.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251960"/>
            <a:ext cx="1024128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9E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4251960"/>
            <a:ext cx="73152" cy="914400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4379976"/>
            <a:ext cx="99212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>
                <a:solidFill>
                  <a:srgbClr val="F97316"/>
                </a:solidFill>
                <a:latin typeface="Aptos"/>
              </a:rPr>
              <a:t>Assessment reminder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4690872"/>
            <a:ext cx="9912096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172033"/>
                </a:solidFill>
                <a:latin typeface="Aptos"/>
              </a:rPr>
              <a:t>Assessment is based on projects, not tests. Students should be able to show what they made and explain one improvement.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