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138160" y="-457200"/>
            <a:ext cx="2926080" cy="2926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713232"/>
            <a:ext cx="1554480" cy="347472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786384"/>
            <a:ext cx="123444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WEEK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44752"/>
            <a:ext cx="886968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Aptos"/>
              </a:rPr>
              <a:t>Browser Use &amp; Computer 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3591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0">
                <a:solidFill>
                  <a:srgbClr val="E2E8F0"/>
                </a:solidFill>
                <a:latin typeface="Aptos"/>
              </a:rPr>
              <a:t>AI as an Operator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069080"/>
            <a:ext cx="8961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0">
                <a:solidFill>
                  <a:srgbClr val="E2E8F0"/>
                </a:solidFill>
                <a:latin typeface="Aptos"/>
              </a:rPr>
              <a:t>Students learn how AI can use a browser or computer-like interface to perform tasks. The class focuses on safe, understandable demos: opening pages, extracting information, filling simple forms, comparing results, and explaining what the agent is doing.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1/9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43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ptos"/>
              </a:rPr>
              <a:t>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72768" y="109728"/>
            <a:ext cx="6492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ptos"/>
              </a:rPr>
              <a:t>Browser Use &amp; Computer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9560" y="173736"/>
            <a:ext cx="3749039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Aptos"/>
              </a:rPr>
              <a:t>AI as an Operator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698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100" b="1">
                <a:solidFill>
                  <a:srgbClr val="172033"/>
                </a:solidFill>
                <a:latin typeface="Aptos"/>
              </a:rPr>
              <a:t>Today’s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481328"/>
            <a:ext cx="10424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6657B"/>
                </a:solidFill>
                <a:latin typeface="Aptos"/>
              </a:rPr>
              <a:t>Taken straight from the curriculum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874519"/>
            <a:ext cx="338328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874519"/>
            <a:ext cx="73152" cy="1508760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2002536"/>
            <a:ext cx="30632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DC2626"/>
                </a:solidFill>
                <a:latin typeface="Aptos"/>
              </a:rPr>
              <a:t>Main goal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2313432"/>
            <a:ext cx="305409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172033"/>
                </a:solidFill>
                <a:latin typeface="Aptos"/>
              </a:rPr>
              <a:t>Teach students to design safe AI operator tasks with clear human approval points.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874519"/>
            <a:ext cx="3108960" cy="1508760"/>
          </a:xfrm>
          <a:prstGeom prst="roundRect">
            <a:avLst/>
          </a:prstGeom>
          <a:solidFill>
            <a:srgbClr val="ECFDF5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874519"/>
            <a:ext cx="73152" cy="1508760"/>
          </a:xfrm>
          <a:prstGeom prst="rect">
            <a:avLst/>
          </a:prstGeom>
          <a:solidFill>
            <a:srgbClr val="0F9F6E"/>
          </a:solidFill>
          <a:ln>
            <a:solidFill>
              <a:srgbClr val="0F9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2002536"/>
            <a:ext cx="27889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0F9F6E"/>
                </a:solidFill>
                <a:latin typeface="Aptos"/>
              </a:rPr>
              <a:t>Student deliverable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2313432"/>
            <a:ext cx="277977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172033"/>
                </a:solidFill>
                <a:latin typeface="Aptos"/>
              </a:rPr>
              <a:t>Browser/Computer task automation demo project or task design.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26679" y="1874519"/>
            <a:ext cx="3611880" cy="1508760"/>
          </a:xfrm>
          <a:prstGeom prst="roundRect">
            <a:avLst/>
          </a:prstGeom>
          <a:solidFill>
            <a:srgbClr val="F5F3FF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26679" y="1874519"/>
            <a:ext cx="73152" cy="150876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91271" y="2002536"/>
            <a:ext cx="32918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7C3AED"/>
                </a:solidFill>
                <a:latin typeface="Aptos"/>
              </a:rPr>
              <a:t>Tools today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7848" y="2313432"/>
            <a:ext cx="3227832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Browser Use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Computer Use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AI Operator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Safety Rules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1560" y="4069080"/>
            <a:ext cx="9875520" cy="914400"/>
          </a:xfrm>
          <a:prstGeom prst="roundRect">
            <a:avLst/>
          </a:prstGeom>
          <a:solidFill>
            <a:srgbClr val="FFF7ED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51560" y="4069080"/>
            <a:ext cx="73152" cy="914400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16151" y="4197096"/>
            <a:ext cx="9555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F97316"/>
                </a:solidFill>
                <a:latin typeface="Aptos"/>
              </a:rPr>
              <a:t>Tutor framing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16151" y="4507992"/>
            <a:ext cx="9546336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172033"/>
                </a:solidFill>
                <a:latin typeface="Aptos"/>
              </a:rPr>
              <a:t>Every tool is introduced as a practical building tool, not abstract theory.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43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ptos"/>
              </a:rPr>
              <a:t>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72768" y="109728"/>
            <a:ext cx="6492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ptos"/>
              </a:rPr>
              <a:t>Browser Use &amp; Computer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9560" y="173736"/>
            <a:ext cx="3749039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Aptos"/>
              </a:rPr>
              <a:t>AI as an Operator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698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100" b="1">
                <a:solidFill>
                  <a:srgbClr val="172033"/>
                </a:solidFill>
                <a:latin typeface="Aptos"/>
              </a:rPr>
              <a:t>Hook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481328"/>
            <a:ext cx="10424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6657B"/>
                </a:solidFill>
                <a:latin typeface="Aptos"/>
              </a:rPr>
              <a:t>Start with a question that makes students curious immediately.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3/9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800" b="1">
                <a:solidFill>
                  <a:srgbClr val="DC2626"/>
                </a:solidFill>
                <a:latin typeface="Aptos"/>
              </a:rPr>
              <a:t>Can AI operate a browser like a human assistant?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657600"/>
            <a:ext cx="96926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72033"/>
                </a:solidFill>
                <a:latin typeface="Aptos"/>
              </a:defRPr>
            </a:pPr>
            <a:r>
              <a:t>Ask for quick predictions.</a:t>
            </a:r>
          </a:p>
          <a:p>
            <a:pPr>
              <a:spcAft>
                <a:spcPts val="900"/>
              </a:spcAft>
              <a:defRPr sz="2300">
                <a:solidFill>
                  <a:srgbClr val="172033"/>
                </a:solidFill>
                <a:latin typeface="Aptos"/>
              </a:defRPr>
            </a:pPr>
            <a:r>
              <a:t>Let students argue both sides.</a:t>
            </a:r>
          </a:p>
          <a:p>
            <a:pPr>
              <a:spcAft>
                <a:spcPts val="900"/>
              </a:spcAft>
              <a:defRPr sz="2300">
                <a:solidFill>
                  <a:srgbClr val="172033"/>
                </a:solidFill>
                <a:latin typeface="Aptos"/>
              </a:defRPr>
            </a:pPr>
            <a:r>
              <a:t>Then show the demo before explaining too much.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43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ptos"/>
              </a:rPr>
              <a:t>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72768" y="109728"/>
            <a:ext cx="6492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ptos"/>
              </a:rPr>
              <a:t>Browser Use &amp; Computer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9560" y="173736"/>
            <a:ext cx="3749039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Aptos"/>
              </a:rPr>
              <a:t>AI as an Operator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698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100" b="1">
                <a:solidFill>
                  <a:srgbClr val="172033"/>
                </a:solidFill>
                <a:latin typeface="Aptos"/>
              </a:rPr>
              <a:t>Big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481328"/>
            <a:ext cx="10424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6657B"/>
                </a:solidFill>
                <a:latin typeface="Aptos"/>
              </a:rPr>
              <a:t>One concept students should remember after class.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4/9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103327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172033"/>
                </a:solidFill>
                <a:latin typeface="Aptos"/>
              </a:rPr>
              <a:t>AI operators need boundaries, supervision, and safe task design.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3063240"/>
            <a:ext cx="10149840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3063240"/>
            <a:ext cx="73152" cy="1645920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3191256"/>
            <a:ext cx="98298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DC2626"/>
                </a:solidFill>
                <a:latin typeface="Aptos"/>
              </a:rPr>
              <a:t>Key concepts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8" y="3502152"/>
            <a:ext cx="976579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Use public information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Avoid private accounts and purchases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Watch what the agent does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Add human approval checkpoints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43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ptos"/>
              </a:rPr>
              <a:t>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72768" y="109728"/>
            <a:ext cx="6492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ptos"/>
              </a:rPr>
              <a:t>Browser Use &amp; Computer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9560" y="173736"/>
            <a:ext cx="3749039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Aptos"/>
              </a:rPr>
              <a:t>AI as an Operator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698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100" b="1">
                <a:solidFill>
                  <a:srgbClr val="172033"/>
                </a:solidFill>
                <a:latin typeface="Aptos"/>
              </a:rPr>
              <a:t>Safe browser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481328"/>
            <a:ext cx="10424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6657B"/>
                </a:solidFill>
                <a:latin typeface="Aptos"/>
              </a:rPr>
              <a:t>Live demo: students see the result before the explanation.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828800"/>
            <a:ext cx="4800600" cy="3108960"/>
          </a:xfrm>
          <a:prstGeom prst="roundRect">
            <a:avLst/>
          </a:prstGeom>
          <a:solidFill>
            <a:srgbClr val="FFFFFF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1828800"/>
            <a:ext cx="73152" cy="3108960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1" y="1956816"/>
            <a:ext cx="44805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DC2626"/>
                </a:solidFill>
                <a:latin typeface="Aptos"/>
              </a:rPr>
              <a:t>Demo steps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67712"/>
            <a:ext cx="4416552" cy="2606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Open a public page.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Extract simple information.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Compare results.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Explain every step before moving 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1828800"/>
            <a:ext cx="5257800" cy="3108960"/>
          </a:xfrm>
          <a:prstGeom prst="roundRect">
            <a:avLst/>
          </a:prstGeom>
          <a:solidFill>
            <a:srgbClr val="FFF7ED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89320" y="1828800"/>
            <a:ext cx="73152" cy="3108960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3912" y="1956816"/>
            <a:ext cx="49377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F97316"/>
                </a:solidFill>
                <a:latin typeface="Aptos"/>
              </a:rPr>
              <a:t>Tutor 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0488" y="2267712"/>
            <a:ext cx="4873752" cy="2606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Narrate what you are asking AI to do.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Pause after the output.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Ask: What should we improve next?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43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ptos"/>
              </a:rPr>
              <a:t>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72768" y="109728"/>
            <a:ext cx="6492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ptos"/>
              </a:rPr>
              <a:t>Browser Use &amp; Computer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9560" y="173736"/>
            <a:ext cx="3749039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Aptos"/>
              </a:rPr>
              <a:t>AI as an Operator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698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100" b="1">
                <a:solidFill>
                  <a:srgbClr val="172033"/>
                </a:solidFill>
                <a:latin typeface="Aptos"/>
              </a:rPr>
              <a:t>Live prompt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481328"/>
            <a:ext cx="10424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6657B"/>
                </a:solidFill>
                <a:latin typeface="Aptos"/>
              </a:rPr>
              <a:t>Copy, modify, and use during the demo.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874519"/>
            <a:ext cx="10561320" cy="278892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121408"/>
            <a:ext cx="10058400" cy="2240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100" b="0">
                <a:solidFill>
                  <a:srgbClr val="FFFFFF"/>
                </a:solidFill>
                <a:latin typeface="Aptos"/>
              </a:rPr>
              <a:t>Design a safe browser task for an AI agent. Use public information only. Do not log in, buy anything, or submit real forms. Include a human approval checkpoint.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507492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DC2626"/>
                </a:solidFill>
                <a:latin typeface="Aptos"/>
              </a:rPr>
              <a:t>After the response, ask students: What worked? What is missing? What should we ask next?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43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ptos"/>
              </a:rPr>
              <a:t>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72768" y="109728"/>
            <a:ext cx="6492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ptos"/>
              </a:rPr>
              <a:t>Browser Use &amp; Computer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9560" y="173736"/>
            <a:ext cx="3749039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Aptos"/>
              </a:rPr>
              <a:t>AI as an Operator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698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100" b="1">
                <a:solidFill>
                  <a:srgbClr val="172033"/>
                </a:solidFill>
                <a:latin typeface="Aptos"/>
              </a:rPr>
              <a:t>Hands-on build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481328"/>
            <a:ext cx="10424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6657B"/>
                </a:solidFill>
                <a:latin typeface="Aptos"/>
              </a:rPr>
              <a:t>Students create their own version and improve through iteration.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828800"/>
            <a:ext cx="4983480" cy="3246120"/>
          </a:xfrm>
          <a:prstGeom prst="roundRect">
            <a:avLst/>
          </a:prstGeom>
          <a:solidFill>
            <a:srgbClr val="ECFDF5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1828800"/>
            <a:ext cx="73152" cy="3246120"/>
          </a:xfrm>
          <a:prstGeom prst="rect">
            <a:avLst/>
          </a:prstGeom>
          <a:solidFill>
            <a:srgbClr val="0F9F6E"/>
          </a:solidFill>
          <a:ln>
            <a:solidFill>
              <a:srgbClr val="0F9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1" y="1956816"/>
            <a:ext cx="46634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0F9F6E"/>
                </a:solidFill>
                <a:latin typeface="Aptos"/>
              </a:rPr>
              <a:t>Build steps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67712"/>
            <a:ext cx="459943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Design a five-step browser task.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Mark safe and risky steps.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Add a human approval checkpoint.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Share the task with a partner.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828800"/>
            <a:ext cx="4983480" cy="3246120"/>
          </a:xfrm>
          <a:prstGeom prst="roundRect">
            <a:avLst/>
          </a:prstGeom>
          <a:solidFill>
            <a:srgbClr val="FFFFFF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828800"/>
            <a:ext cx="73152" cy="3246120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6792" y="1956816"/>
            <a:ext cx="46634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DC2626"/>
                </a:solidFill>
                <a:latin typeface="Aptos"/>
              </a:rPr>
              <a:t>Keep it manageable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3368" y="2267712"/>
            <a:ext cx="459943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Start with the smallest working version.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Let students customize one thing.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Have them explain the change in plain English.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43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ptos"/>
              </a:rPr>
              <a:t>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72768" y="109728"/>
            <a:ext cx="6492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ptos"/>
              </a:rPr>
              <a:t>Browser Use &amp; Computer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9560" y="173736"/>
            <a:ext cx="3749039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Aptos"/>
              </a:rPr>
              <a:t>AI as an Operator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698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100" b="1">
                <a:solidFill>
                  <a:srgbClr val="172033"/>
                </a:solidFill>
                <a:latin typeface="Aptos"/>
              </a:rPr>
              <a:t>Interactive checkpoints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481328"/>
            <a:ext cx="10424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6657B"/>
                </a:solidFill>
                <a:latin typeface="Aptos"/>
              </a:rPr>
              <a:t>Use these to keep kids active instead of just watching.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1828800"/>
            <a:ext cx="10241280" cy="2103120"/>
          </a:xfrm>
          <a:prstGeom prst="roundRect">
            <a:avLst/>
          </a:prstGeom>
          <a:solidFill>
            <a:srgbClr val="F5F3FF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1828800"/>
            <a:ext cx="73152" cy="210312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1956816"/>
            <a:ext cx="99212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7C3AED"/>
                </a:solidFill>
                <a:latin typeface="Aptos"/>
              </a:rPr>
              <a:t>Student interaction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2267712"/>
            <a:ext cx="9857232" cy="1600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Red/yellow/green: is this task safe?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Group design: make a five-step workflow.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Stop-button practice: when should a tutor interrupt AI?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4343400"/>
            <a:ext cx="10241280" cy="868680"/>
          </a:xfrm>
          <a:prstGeom prst="roundRect">
            <a:avLst/>
          </a:prstGeom>
          <a:solidFill>
            <a:srgbClr val="ECFDF5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4343400"/>
            <a:ext cx="73152" cy="868680"/>
          </a:xfrm>
          <a:prstGeom prst="rect">
            <a:avLst/>
          </a:prstGeom>
          <a:solidFill>
            <a:srgbClr val="0F9F6E"/>
          </a:solidFill>
          <a:ln>
            <a:solidFill>
              <a:srgbClr val="0F9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471416"/>
            <a:ext cx="99212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0F9F6E"/>
                </a:solidFill>
                <a:latin typeface="Aptos"/>
              </a:rPr>
              <a:t>Exit ticket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4782312"/>
            <a:ext cx="9912096" cy="3657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172033"/>
                </a:solidFill>
                <a:latin typeface="Aptos"/>
              </a:rPr>
              <a:t>What did you make? What prompt helped? What would you change next?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43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ptos"/>
              </a:rPr>
              <a:t>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72768" y="109728"/>
            <a:ext cx="6492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ptos"/>
              </a:rPr>
              <a:t>Browser Use &amp; Computer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9560" y="173736"/>
            <a:ext cx="3749039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Aptos"/>
              </a:rPr>
              <a:t>AI as an Operator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698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100" b="1">
                <a:solidFill>
                  <a:srgbClr val="172033"/>
                </a:solidFill>
                <a:latin typeface="Aptos"/>
              </a:rPr>
              <a:t>Homework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481328"/>
            <a:ext cx="10424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6657B"/>
                </a:solidFill>
                <a:latin typeface="Aptos"/>
              </a:rPr>
              <a:t>Editable: change this based on what you want students to 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828800"/>
            <a:ext cx="10469880" cy="1828800"/>
          </a:xfrm>
          <a:prstGeom prst="roundRect">
            <a:avLst/>
          </a:prstGeom>
          <a:solidFill>
            <a:srgbClr val="FFF7ED"/>
          </a:solidFill>
          <a:ln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148840"/>
            <a:ext cx="9875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500" b="1">
                <a:solidFill>
                  <a:srgbClr val="172033"/>
                </a:solidFill>
                <a:latin typeface="Aptos"/>
              </a:rPr>
              <a:t>Design a 5-step browser task that an AI agent could perform. Edit this homework as needed.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251960"/>
            <a:ext cx="1024128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4251960"/>
            <a:ext cx="73152" cy="914400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4379976"/>
            <a:ext cx="99212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F97316"/>
                </a:solidFill>
                <a:latin typeface="Aptos"/>
              </a:rPr>
              <a:t>Assessment reminder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4690872"/>
            <a:ext cx="9912096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172033"/>
                </a:solidFill>
                <a:latin typeface="Aptos"/>
              </a:rPr>
              <a:t>Assessment is based on projects, not tests. Students should be able to show what they made and explain one improvement.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